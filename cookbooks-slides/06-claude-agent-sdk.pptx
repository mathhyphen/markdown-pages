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A1A2E"/>
                </a:solidFill>
              </a:defRPr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系列导航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[Claude Cookbooks 中文导读](index.html)</a:t>
            </a:r>
          </a:p>
          <a:p>
            <a:pPr>
              <a:spcAft>
                <a:spcPts val="800"/>
              </a:spcAft>
              <a:defRPr sz="1800"/>
            </a:pPr>
            <a:r>
              <a:t>• [01｜仓库总览：Claude Cookbooks 到底在教什么](01-repo-overview.html)</a:t>
            </a:r>
          </a:p>
          <a:p>
            <a:pPr>
              <a:spcAft>
                <a:spcPts val="800"/>
              </a:spcAft>
              <a:defRPr sz="1800"/>
            </a:pPr>
            <a:r>
              <a:t>• [02｜基础能力篇：分类、RAG、摘要与 Text-to-SQL](02-capabilities.html)</a:t>
            </a:r>
          </a:p>
          <a:p>
            <a:pPr>
              <a:spcAft>
                <a:spcPts val="800"/>
              </a:spcAft>
              <a:defRPr sz="1800"/>
            </a:pPr>
            <a:r>
              <a:t>• [03｜工具调用篇：从函数调用到工具生态](03-tool-use.html)</a:t>
            </a:r>
          </a:p>
          <a:p>
            <a:pPr>
              <a:spcAft>
                <a:spcPts val="800"/>
              </a:spcAft>
              <a:defRPr sz="1800"/>
            </a:pPr>
            <a:r>
              <a:t>• [04｜多模态篇：视觉、文档、图表与图像理解](04-multimodal.html)</a:t>
            </a:r>
          </a:p>
          <a:p>
            <a:pPr>
              <a:spcAft>
                <a:spcPts val="800"/>
              </a:spcAft>
              <a:defRPr sz="1800"/>
            </a:pPr>
            <a:r>
              <a:t>• [05｜Agent 模式篇：链式、并行、路由与编排](05-agent-patterns.html)</a:t>
            </a:r>
          </a:p>
          <a:p>
            <a:pPr>
              <a:spcAft>
                <a:spcPts val="800"/>
              </a:spcAft>
              <a:defRPr sz="1800"/>
            </a:pPr>
            <a:r>
              <a:t>• [06｜Claude Agent SDK 篇：把模式落成真正的代理](06-claude-agent-sdk.html)</a:t>
            </a:r>
          </a:p>
          <a:p>
            <a:pPr>
              <a:spcAft>
                <a:spcPts val="800"/>
              </a:spcAft>
              <a:defRPr sz="1800"/>
            </a:pPr>
            <a:r>
              <a:t>• [07｜响应工程篇：JSON、缓存、引用、评测与成本](07-responses-and-performance.html)</a:t>
            </a:r>
          </a:p>
          <a:p>
            <a:pPr>
              <a:spcAft>
                <a:spcPts val="800"/>
              </a:spcAft>
              <a:defRPr sz="1800"/>
            </a:pPr>
            <a:r>
              <a:t>• [08｜生态集成篇：LlamaIndex、Pinecone、MongoDB、音频与语音](08-integrations.html)</a:t>
            </a:r>
          </a:p>
          <a:p>
            <a:pPr>
              <a:spcAft>
                <a:spcPts val="800"/>
              </a:spcAft>
              <a:defRPr sz="1800"/>
            </a:pPr>
            <a:r>
              <a:t>• [09｜Skills、微调与垂直化能力](09-skills-finetuning.html)</a:t>
            </a:r>
          </a:p>
          <a:p>
            <a:pPr>
              <a:spcAft>
                <a:spcPts val="800"/>
              </a:spcAft>
              <a:defRPr sz="1800"/>
            </a:pPr>
            <a:r>
              <a:t>• [10｜完整索引：66 个 Claude Cookbooks 逐条导读](10-full-inventory.html)</a:t>
            </a:r>
          </a:p>
          <a:p>
            <a:pPr>
              <a:spcAft>
                <a:spcPts val="800"/>
              </a:spcAft>
              <a:defRPr sz="1800"/>
            </a:pPr>
            <a:r>
              <a:t>• [11｜发布篇：把这套文章放到 GitHub Pages](11-github-pages-deploy.html)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1. 这一组内容为什么值得单独成篇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代理应该怎么定义；</a:t>
            </a:r>
          </a:p>
          <a:p>
            <a:pPr>
              <a:spcAft>
                <a:spcPts val="800"/>
              </a:spcAft>
              <a:defRPr sz="1800"/>
            </a:pPr>
            <a:r>
              <a:t>• 工具如何授权；</a:t>
            </a:r>
          </a:p>
          <a:p>
            <a:pPr>
              <a:spcAft>
                <a:spcPts val="800"/>
              </a:spcAft>
              <a:defRPr sz="1800"/>
            </a:pPr>
            <a:r>
              <a:t>• 与外部系统怎么连接；</a:t>
            </a:r>
          </a:p>
          <a:p>
            <a:pPr>
              <a:spcAft>
                <a:spcPts val="800"/>
              </a:spcAft>
              <a:defRPr sz="1800"/>
            </a:pPr>
            <a:r>
              <a:t>• 子代理如何组织；</a:t>
            </a:r>
          </a:p>
          <a:p>
            <a:pPr>
              <a:spcAft>
                <a:spcPts val="800"/>
              </a:spcAft>
              <a:defRPr sz="1800"/>
            </a:pPr>
            <a:r>
              <a:t>• 如何从其他 Agent SDK 迁移过来。 也就是说，它已经不再只是“调用一个模型”，而是在讲 **代理运行时** 的问题。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2. 最小起点：Research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**The one-liner research agent**：使用 Claude Agent SDK 和 WebSearch 构建最小化研究代理。（[原文](https://github.com/...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3. 组织型代理：Chief of Staff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**The chief of staff agent**：用子代理、hooks、output styles 与 plan mode 组织多代理工作流。（[原文](https://github.com/...</a:t>
            </a:r>
          </a:p>
          <a:p>
            <a:pPr>
              <a:spcAft>
                <a:spcPts val="800"/>
              </a:spcAft>
              <a:defRPr sz="1800"/>
            </a:pPr>
            <a:r>
              <a:t>• 接收目标；</a:t>
            </a:r>
          </a:p>
          <a:p>
            <a:pPr>
              <a:spcAft>
                <a:spcPts val="800"/>
              </a:spcAft>
              <a:defRPr sz="1800"/>
            </a:pPr>
            <a:r>
              <a:t>• 制定计划；</a:t>
            </a:r>
          </a:p>
          <a:p>
            <a:pPr>
              <a:spcAft>
                <a:spcPts val="800"/>
              </a:spcAft>
              <a:defRPr sz="1800"/>
            </a:pPr>
            <a:r>
              <a:t>• 分给不同子代理；</a:t>
            </a:r>
          </a:p>
          <a:p>
            <a:pPr>
              <a:spcAft>
                <a:spcPts val="800"/>
              </a:spcAft>
              <a:defRPr sz="1800"/>
            </a:pPr>
            <a:r>
              <a:t>• 回收结果并输出最终产物。 如果你要写博客，这一篇很适合讲“AI 代理如何模拟组织分工”。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4. 外部系统与可操作环境：Observability / SRE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**The observability agent**：通过 MCP 把代理连接到 GitHub 等外部系统，做监控与 CI 工作流。（[原文](https://github.com/anthropi...</a:t>
            </a:r>
          </a:p>
          <a:p>
            <a:pPr>
              <a:spcAft>
                <a:spcPts val="800"/>
              </a:spcAft>
              <a:defRPr sz="1800"/>
            </a:pPr>
            <a:r>
              <a:t>• **The site reliability agent**：面向 SRE/事故响应，展示可读写 MCP 工具下的诊断、修复与复盘。（[原文](https://github.com/anthropic...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5. 迁移视角：从 OpenAI Agents SDK 迁过来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**Migrating from the OpenAI Agents SDK**：把 OpenAI Agents SDK 应用迁移到 Claude Agent SDK。（[原文](https://gi...</a:t>
            </a:r>
          </a:p>
          <a:p>
            <a:pPr>
              <a:spcAft>
                <a:spcPts val="800"/>
              </a:spcAft>
              <a:defRPr sz="1800"/>
            </a:pPr>
            <a:r>
              <a:t>• Claude Agent SDK 和 OpenAI Agents SDK 的概念映射；</a:t>
            </a:r>
          </a:p>
          <a:p>
            <a:pPr>
              <a:spcAft>
                <a:spcPts val="800"/>
              </a:spcAft>
              <a:defRPr sz="1800"/>
            </a:pPr>
            <a:r>
              <a:t>• tools / sessions / handoffs / guardrails 的对应关系；</a:t>
            </a:r>
          </a:p>
          <a:p>
            <a:pPr>
              <a:spcAft>
                <a:spcPts val="800"/>
              </a:spcAft>
              <a:defRPr sz="1800"/>
            </a:pPr>
            <a:r>
              <a:t>• 迁移成本与心智模型变化。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8. 这篇的核心结论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`claude_agent_sdk/` 是 Claude Cookbooks 里最明显“迈向工程化代理开发”的一组内容；</a:t>
            </a:r>
          </a:p>
          <a:p>
            <a:pPr>
              <a:spcAft>
                <a:spcPts val="800"/>
              </a:spcAft>
              <a:defRPr sz="1800"/>
            </a:pPr>
            <a:r>
              <a:t>• 它把 Agent 从概念模式推进到 SDK、系统连接和运行时层面；</a:t>
            </a:r>
          </a:p>
          <a:p>
            <a:pPr>
              <a:spcAft>
                <a:spcPts val="800"/>
              </a:spcAft>
              <a:defRPr sz="1800"/>
            </a:pPr>
            <a:r>
              <a:t>• 如果你真正打算做长期可维护的 Agent 系统，这一组比单个 demo 更值得反复看。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对应原始 notebook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**The one-liner research agent**：使用 Claude Agent SDK 和 WebSearch 构建最小化研究代理。（[原文](https://github.com/...</a:t>
            </a:r>
          </a:p>
          <a:p>
            <a:pPr>
              <a:spcAft>
                <a:spcPts val="800"/>
              </a:spcAft>
              <a:defRPr sz="1800"/>
            </a:pPr>
            <a:r>
              <a:t>• **The chief of staff agent**：用子代理、hooks、output styles 与 plan mode 组织多代理工作流。（[原文](https://github.com/...</a:t>
            </a:r>
          </a:p>
          <a:p>
            <a:pPr>
              <a:spcAft>
                <a:spcPts val="800"/>
              </a:spcAft>
              <a:defRPr sz="1800"/>
            </a:pPr>
            <a:r>
              <a:t>• **The observability agent**：通过 MCP 把代理连接到 GitHub 等外部系统，做监控与 CI 工作流。（[原文](https://github.com/anthropi...</a:t>
            </a:r>
          </a:p>
          <a:p>
            <a:pPr>
              <a:spcAft>
                <a:spcPts val="800"/>
              </a:spcAft>
              <a:defRPr sz="1800"/>
            </a:pPr>
            <a:r>
              <a:t>• **The site reliability agent**：面向 SRE/事故响应，展示可读写 MCP 工具下的诊断、修复与复盘。（[原文](https://github.com/anthropic...</a:t>
            </a:r>
          </a:p>
          <a:p>
            <a:pPr>
              <a:spcAft>
                <a:spcPts val="800"/>
              </a:spcAft>
              <a:defRPr sz="1800"/>
            </a:pPr>
            <a:r>
              <a:t>• **Migrating from the OpenAI Agents SDK**：把 OpenAI Agents SDK 应用迁移到 Claude Agent SDK。（[原文](https://gi...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相关补充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[patterns/agents/basic_workflows.ipynb](https://github.com/anthropics/claude-cookbooks/blob/main/pat...</a:t>
            </a:r>
          </a:p>
          <a:p>
            <a:pPr>
              <a:spcAft>
                <a:spcPts val="800"/>
              </a:spcAft>
              <a:defRPr sz="1800"/>
            </a:pPr>
            <a:r>
              <a:t>• [Anthropic 开发文档](https://docs.claude.com)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