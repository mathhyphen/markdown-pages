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系列导航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[Claude Cookbooks 中文导读](index.html)</a:t>
            </a:r>
          </a:p>
          <a:p>
            <a:pPr>
              <a:spcAft>
                <a:spcPts val="800"/>
              </a:spcAft>
              <a:defRPr sz="1800"/>
            </a:pPr>
            <a:r>
              <a:t>• [01｜仓库总览：Claude Cookbooks 到底在教什么](01-repo-overview.html)</a:t>
            </a:r>
          </a:p>
          <a:p>
            <a:pPr>
              <a:spcAft>
                <a:spcPts val="800"/>
              </a:spcAft>
              <a:defRPr sz="1800"/>
            </a:pPr>
            <a:r>
              <a:t>• [02｜基础能力篇：分类、RAG、摘要与 Text-to-SQL](02-capabilities.html)</a:t>
            </a:r>
          </a:p>
          <a:p>
            <a:pPr>
              <a:spcAft>
                <a:spcPts val="800"/>
              </a:spcAft>
              <a:defRPr sz="1800"/>
            </a:pPr>
            <a:r>
              <a:t>• [03｜工具调用篇：从函数调用到工具生态](03-tool-use.html)</a:t>
            </a:r>
          </a:p>
          <a:p>
            <a:pPr>
              <a:spcAft>
                <a:spcPts val="800"/>
              </a:spcAft>
              <a:defRPr sz="1800"/>
            </a:pPr>
            <a:r>
              <a:t>• [04｜多模态篇：视觉、文档、图表与图像理解](04-multimodal.html)</a:t>
            </a:r>
          </a:p>
          <a:p>
            <a:pPr>
              <a:spcAft>
                <a:spcPts val="800"/>
              </a:spcAft>
              <a:defRPr sz="1800"/>
            </a:pPr>
            <a:r>
              <a:t>• [05｜Agent 模式篇：链式、并行、路由与编排](05-agent-patterns.html)</a:t>
            </a:r>
          </a:p>
          <a:p>
            <a:pPr>
              <a:spcAft>
                <a:spcPts val="800"/>
              </a:spcAft>
              <a:defRPr sz="1800"/>
            </a:pPr>
            <a:r>
              <a:t>• [06｜Claude Agent SDK 篇：把模式落成真正的代理](06-claude-agent-sdk.html)</a:t>
            </a:r>
          </a:p>
          <a:p>
            <a:pPr>
              <a:spcAft>
                <a:spcPts val="800"/>
              </a:spcAft>
              <a:defRPr sz="1800"/>
            </a:pPr>
            <a:r>
              <a:t>• [07｜响应工程篇：JSON、缓存、引用、评测与成本](07-responses-and-performance.html)</a:t>
            </a:r>
          </a:p>
          <a:p>
            <a:pPr>
              <a:spcAft>
                <a:spcPts val="800"/>
              </a:spcAft>
              <a:defRPr sz="1800"/>
            </a:pPr>
            <a:r>
              <a:t>• [08｜生态集成篇：LlamaIndex、Pinecone、MongoDB、音频与语音](08-integrations.html)</a:t>
            </a:r>
          </a:p>
          <a:p>
            <a:pPr>
              <a:spcAft>
                <a:spcPts val="800"/>
              </a:spcAft>
              <a:defRPr sz="1800"/>
            </a:pPr>
            <a:r>
              <a:t>• [09｜Skills、微调与垂直化能力](09-skills-finetuning.html)</a:t>
            </a:r>
          </a:p>
          <a:p>
            <a:pPr>
              <a:spcAft>
                <a:spcPts val="800"/>
              </a:spcAft>
              <a:defRPr sz="1800"/>
            </a:pPr>
            <a:r>
              <a:t>• [10｜完整索引：66 个 Claude Cookbooks 逐条导读](10-full-inventory.html)</a:t>
            </a:r>
          </a:p>
          <a:p>
            <a:pPr>
              <a:spcAft>
                <a:spcPts val="800"/>
              </a:spcAft>
              <a:defRPr sz="1800"/>
            </a:pPr>
            <a:r>
              <a:t>• [11｜发布篇：把这套文章放到 GitHub Pages](11-github-pages-deploy.html)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为什么这组内容值得单独讲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Pinecone / MongoDB 这样的数据底座；</a:t>
            </a:r>
          </a:p>
          <a:p>
            <a:pPr>
              <a:spcAft>
                <a:spcPts val="800"/>
              </a:spcAft>
              <a:defRPr sz="1800"/>
            </a:pPr>
            <a:r>
              <a:t>• LlamaIndex / LangChain 这样的编排框架；</a:t>
            </a:r>
          </a:p>
          <a:p>
            <a:pPr>
              <a:spcAft>
                <a:spcPts val="800"/>
              </a:spcAft>
              <a:defRPr sz="1800"/>
            </a:pPr>
            <a:r>
              <a:t>• Deepgram / ElevenLabs 这样的音视频服务；</a:t>
            </a:r>
          </a:p>
          <a:p>
            <a:pPr>
              <a:spcAft>
                <a:spcPts val="800"/>
              </a:spcAft>
              <a:defRPr sz="1800"/>
            </a:pPr>
            <a:r>
              <a:t>• WolframAlpha 这样的专业计算服务。 `third_party/` 的价值，就在于它把 Claude 放进这些已有组件里。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1. RAG 生态：Pinecone、MongoDB、LlamaIndex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**RAG pipeline with LlamaIndex**：使用 LlamaIndex 快速搭建基础 RAG 流水线。（[原文](https://github.com/anthropics/cl...</a:t>
            </a:r>
          </a:p>
          <a:p>
            <a:pPr>
              <a:spcAft>
                <a:spcPts val="800"/>
              </a:spcAft>
              <a:defRPr sz="1800"/>
            </a:pPr>
            <a:r>
              <a:t>• **Multi-document agents**：用 LlamaIndex 的 DocumentAgents 处理多文档问答。（[原文](https://github.com/anthropics/...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**RouterQuery engine**：把查询路由到不同索引或不同知识源。（[原文](https://github.com/anthropics/claude-cookbooks/blob/ma...</a:t>
            </a:r>
          </a:p>
          <a:p>
            <a:pPr>
              <a:spcAft>
                <a:spcPts val="800"/>
              </a:spcAft>
              <a:defRPr sz="1800"/>
            </a:pPr>
            <a:r>
              <a:t>• **SubQuestionQueryEngine**：把复杂问题拆成子问题，再跨文档回答。（[原文](https://github.com/anthropics/claude-cookbooks/bl...</a:t>
            </a:r>
          </a:p>
          <a:p>
            <a:pPr>
              <a:spcAft>
                <a:spcPts val="800"/>
              </a:spcAft>
              <a:defRPr sz="1800"/>
            </a:pPr>
            <a:r>
              <a:t>• **How to build a RAG system using Claude 3 and MongoDB**：用 MongoDB 构建带知识库的对话系统。（[原文](https://github....</a:t>
            </a:r>
          </a:p>
          <a:p>
            <a:pPr>
              <a:spcAft>
                <a:spcPts val="800"/>
              </a:spcAft>
              <a:defRPr sz="1800"/>
            </a:pPr>
            <a:r>
              <a:t>• **Claude 3 RAG agents with LangChain v1**：借助 LangChain v1 的 agent 框架做 Claude RAG agents。（[原文](https:...</a:t>
            </a:r>
          </a:p>
          <a:p>
            <a:pPr>
              <a:spcAft>
                <a:spcPts val="800"/>
              </a:spcAft>
              <a:defRPr sz="1800"/>
            </a:pPr>
            <a:r>
              <a:t>• **Retrieval-augmented generation using Pinecone**：把 Claude 与 Pinecone 向量数据库连接起来。（[原文](https://github...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2. 工具与专业服务集成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**Iteratively searching Wikipedia with Claude**：展示较早期的迭代式 Wikipedia 搜索研究流程。（[原文](https://github.com/...</a:t>
            </a:r>
          </a:p>
          <a:p>
            <a:pPr>
              <a:spcAft>
                <a:spcPts val="800"/>
              </a:spcAft>
              <a:defRPr sz="1800"/>
            </a:pPr>
            <a:r>
              <a:t>• **Using the Wolfram Alpha LLM API as a tool with Claude**：把 Wolfram Alpha LLM API 作为 Claude 的外部工具。（[...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3. 音频与语音：从文字世界走向声音世界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**Transcribe audio with Deepgram and prepare interview questions**：用 Deepgram 做音频转写，再用 Claude 生成面试问题...</a:t>
            </a:r>
          </a:p>
          <a:p>
            <a:pPr>
              <a:spcAft>
                <a:spcPts val="800"/>
              </a:spcAft>
              <a:defRPr sz="1800"/>
            </a:pPr>
            <a:r>
              <a:t>• **Low latency voice assistant with ElevenLabs**：结合 ElevenLabs 做低延迟语音助手。（[原文](https://github.com/anth...</a:t>
            </a:r>
          </a:p>
          <a:p>
            <a:pPr>
              <a:spcAft>
                <a:spcPts val="800"/>
              </a:spcAft>
              <a:defRPr sz="1800"/>
            </a:pPr>
            <a:r>
              <a:t>• 语音输入（STT）；</a:t>
            </a:r>
          </a:p>
          <a:p>
            <a:pPr>
              <a:spcAft>
                <a:spcPts val="800"/>
              </a:spcAft>
              <a:defRPr sz="1800"/>
            </a:pPr>
            <a:r>
              <a:t>• Claude 的理解与生成；</a:t>
            </a:r>
          </a:p>
          <a:p>
            <a:pPr>
              <a:spcAft>
                <a:spcPts val="800"/>
              </a:spcAft>
              <a:defRPr sz="1800"/>
            </a:pPr>
            <a:r>
              <a:t>• 语音输出（TTS）；</a:t>
            </a:r>
          </a:p>
          <a:p>
            <a:pPr>
              <a:spcAft>
                <a:spcPts val="800"/>
              </a:spcAft>
              <a:defRPr sz="1800"/>
            </a:pPr>
            <a:r>
              <a:t>• 面向实时或低延迟交互的系统组合。 它们的重点不是 Claude 会不会说话，而是：**怎么把 Claude 放进一个完整的语音链路里**。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4. 多模态框架桥接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**Multi-modal with LlamaIndex**：借助 LlamaIndex 的多模态抽象对接 Anthropic 模型。（[原文](https://github.com/anthrop...</a:t>
            </a:r>
          </a:p>
          <a:p>
            <a:pPr>
              <a:spcAft>
                <a:spcPts val="800"/>
              </a:spcAft>
              <a:defRPr sz="1800"/>
            </a:pPr>
            <a:r>
              <a:t>• **ReAct agent with LlamaIndex**：在 LlamaIndex 中实现基于 ReAct 的工具型代理。（[原文](https://github.com/anthropics/...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先问自己：你已经有什么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已经有向量库？先看 Pinecone / MongoDB；</a:t>
            </a:r>
          </a:p>
          <a:p>
            <a:pPr>
              <a:spcAft>
                <a:spcPts val="800"/>
              </a:spcAft>
              <a:defRPr sz="1800"/>
            </a:pPr>
            <a:r>
              <a:t>• 已经有框架？先看 LlamaIndex / LangChain；</a:t>
            </a:r>
          </a:p>
          <a:p>
            <a:pPr>
              <a:spcAft>
                <a:spcPts val="800"/>
              </a:spcAft>
              <a:defRPr sz="1800"/>
            </a:pPr>
            <a:r>
              <a:t>• 已经有语音链路？先看 Deepgram / ElevenLabs。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重点看模式迁移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外部系统如何暴露给 Claude；</a:t>
            </a:r>
          </a:p>
          <a:p>
            <a:pPr>
              <a:spcAft>
                <a:spcPts val="800"/>
              </a:spcAft>
              <a:defRPr sz="1800"/>
            </a:pPr>
            <a:r>
              <a:t>• 检索层和编排层如何分工；</a:t>
            </a:r>
          </a:p>
          <a:p>
            <a:pPr>
              <a:spcAft>
                <a:spcPts val="800"/>
              </a:spcAft>
              <a:defRPr sz="1800"/>
            </a:pPr>
            <a:r>
              <a:t>• 哪些能力应该由专业服务承担。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6. 可写成哪些文章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**Claude 接 Pinecone：RAG 不只是换一个模型**</a:t>
            </a:r>
          </a:p>
          <a:p>
            <a:pPr>
              <a:spcAft>
                <a:spcPts val="800"/>
              </a:spcAft>
              <a:defRPr sz="1800"/>
            </a:pPr>
            <a:r>
              <a:t>• **用 LlamaIndex 做 Claude 应用时，到底是谁在负责什么**</a:t>
            </a:r>
          </a:p>
          <a:p>
            <a:pPr>
              <a:spcAft>
                <a:spcPts val="800"/>
              </a:spcAft>
              <a:defRPr sz="1800"/>
            </a:pPr>
            <a:r>
              <a:t>• **语音 Agent 的最小闭环：Deepgram + Claude + ElevenLabs**</a:t>
            </a:r>
          </a:p>
          <a:p>
            <a:pPr>
              <a:spcAft>
                <a:spcPts val="800"/>
              </a:spcAft>
              <a:defRPr sz="1800"/>
            </a:pPr>
            <a:r>
              <a:t>• **为什么专业计算应该交给 WolframAlpha，而不是让模型硬算**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7. 这篇的核心结论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`third_party/` 体现的是 Claude 的生态兼容性，而不是某种固定框架路线；</a:t>
            </a:r>
          </a:p>
          <a:p>
            <a:pPr>
              <a:spcAft>
                <a:spcPts val="800"/>
              </a:spcAft>
              <a:defRPr sz="1800"/>
            </a:pPr>
            <a:r>
              <a:t>• 这组内容特别适合已经有现成技术栈的团队；</a:t>
            </a:r>
          </a:p>
          <a:p>
            <a:pPr>
              <a:spcAft>
                <a:spcPts val="800"/>
              </a:spcAft>
              <a:defRPr sz="1800"/>
            </a:pPr>
            <a:r>
              <a:t>• 真正值得学的是“Claude 如何嵌入系统”，而不是“某个库怎么 import”。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对应原始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**Transcribe audio with Deepgram and prepare interview questions**：用 Deepgram 做音频转写，再用 Claude 生成面试问题...</a:t>
            </a:r>
          </a:p>
          <a:p>
            <a:pPr>
              <a:spcAft>
                <a:spcPts val="800"/>
              </a:spcAft>
              <a:defRPr sz="1800"/>
            </a:pPr>
            <a:r>
              <a:t>• **RAG pipeline with LlamaIndex**：使用 LlamaIndex 快速搭建基础 RAG 流水线。（[原文](https://github.com/anthropics/cl...</a:t>
            </a:r>
          </a:p>
          <a:p>
            <a:pPr>
              <a:spcAft>
                <a:spcPts val="800"/>
              </a:spcAft>
              <a:defRPr sz="1800"/>
            </a:pPr>
            <a:r>
              <a:t>• **Multi-document agents**：用 LlamaIndex 的 DocumentAgents 处理多文档问答。（[原文](https://github.com/anthropics/...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**Multi-modal with LlamaIndex**：借助 LlamaIndex 的多模态抽象对接 Anthropic 模型。（[原文](https://github.com/anthrop...</a:t>
            </a:r>
          </a:p>
          <a:p>
            <a:pPr>
              <a:spcAft>
                <a:spcPts val="800"/>
              </a:spcAft>
              <a:defRPr sz="1800"/>
            </a:pPr>
            <a:r>
              <a:t>• **ReAct agent with LlamaIndex**：在 LlamaIndex 中实现基于 ReAct 的工具型代理。（[原文](https://github.com/anthropics/...</a:t>
            </a:r>
          </a:p>
          <a:p>
            <a:pPr>
              <a:spcAft>
                <a:spcPts val="800"/>
              </a:spcAft>
              <a:defRPr sz="1800"/>
            </a:pPr>
            <a:r>
              <a:t>• **RouterQuery engine**：把查询路由到不同索引或不同知识源。（[原文](https://github.com/anthropics/claude-cookbooks/blob/ma...</a:t>
            </a:r>
          </a:p>
          <a:p>
            <a:pPr>
              <a:spcAft>
                <a:spcPts val="800"/>
              </a:spcAft>
              <a:defRPr sz="1800"/>
            </a:pPr>
            <a:r>
              <a:t>• **SubQuestionQueryEngine**：把复杂问题拆成子问题，再跨文档回答。（[原文](https://github.com/anthropics/claude-cookbooks/bl...</a:t>
            </a:r>
          </a:p>
          <a:p>
            <a:pPr>
              <a:spcAft>
                <a:spcPts val="800"/>
              </a:spcAft>
              <a:defRPr sz="1800"/>
            </a:pPr>
            <a:r>
              <a:t>• **How to build a RAG system using Claude 3 and MongoDB**：用 MongoDB 构建带知识库的对话系统。（[原文](https://github....</a:t>
            </a:r>
          </a:p>
          <a:p>
            <a:pPr>
              <a:spcAft>
                <a:spcPts val="800"/>
              </a:spcAft>
              <a:defRPr sz="1800"/>
            </a:pPr>
            <a:r>
              <a:t>• **Claude 3 RAG agents with LangChain v1**：借助 LangChain v1 的 agent 框架做 Claude RAG agents。（[原文](https:...</a:t>
            </a:r>
          </a:p>
          <a:p>
            <a:pPr>
              <a:spcAft>
                <a:spcPts val="800"/>
              </a:spcAft>
              <a:defRPr sz="1800"/>
            </a:pPr>
            <a:r>
              <a:t>• **Retrieval-augmented generation using Pinecone**：把 Claude 与 Pinecone 向量数据库连接起来。（[原文](https://github...</a:t>
            </a:r>
          </a:p>
          <a:p>
            <a:pPr>
              <a:spcAft>
                <a:spcPts val="800"/>
              </a:spcAft>
              <a:defRPr sz="1800"/>
            </a:pPr>
            <a:r>
              <a:t>• **Iteratively searching Wikipedia with Claude**：展示较早期的迭代式 Wikipedia 搜索研究流程。（[原文](https://github.com/...</a:t>
            </a:r>
          </a:p>
          <a:p>
            <a:pPr>
              <a:spcAft>
                <a:spcPts val="800"/>
              </a:spcAft>
              <a:defRPr sz="1800"/>
            </a:pPr>
            <a:r>
              <a:t>• **Using the Wolfram Alpha LLM API as a tool with Claude**：把 Wolfram Alpha LLM API 作为 Claude 的外部工具。（[...</a:t>
            </a:r>
          </a:p>
          <a:p>
            <a:pPr>
              <a:spcAft>
                <a:spcPts val="800"/>
              </a:spcAft>
              <a:defRPr sz="1800"/>
            </a:pPr>
            <a:r>
              <a:t>• **Low latency voice assistant with ElevenLabs**：结合 ElevenLabs 做低延迟语音助手。（[原文](https://github.com/anth...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4A90D9"/>
                </a:solidFill>
              </a:defRPr>
            </a:pPr>
            <a:r>
              <a:t>原始资料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/>
            </a:pPr>
            <a:r>
              <a:t>• [third_party 目录](https://github.com/anthropics/claude-cookbooks/tree/main/third_party)</a:t>
            </a:r>
          </a:p>
          <a:p>
            <a:pPr>
              <a:spcAft>
                <a:spcPts val="800"/>
              </a:spcAft>
              <a:defRPr sz="1800"/>
            </a:pPr>
            <a:r>
              <a:t>• [recipes 注册表](https://raw.githubusercontent.com/anthropics/claude-cookbooks/main/registry.yaml)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