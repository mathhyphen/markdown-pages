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A1A2E"/>
                </a:solidFill>
              </a:defRPr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系列导航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[Claude Cookbooks 中文导读](index.html)</a:t>
            </a:r>
          </a:p>
          <a:p>
            <a:pPr>
              <a:spcAft>
                <a:spcPts val="800"/>
              </a:spcAft>
              <a:defRPr sz="1800"/>
            </a:pPr>
            <a:r>
              <a:t>• [01｜仓库总览：Claude Cookbooks 到底在教什么](01-repo-overview.html)</a:t>
            </a:r>
          </a:p>
          <a:p>
            <a:pPr>
              <a:spcAft>
                <a:spcPts val="800"/>
              </a:spcAft>
              <a:defRPr sz="1800"/>
            </a:pPr>
            <a:r>
              <a:t>• [02｜基础能力篇：分类、RAG、摘要与 Text-to-SQL](02-capabilities.html)</a:t>
            </a:r>
          </a:p>
          <a:p>
            <a:pPr>
              <a:spcAft>
                <a:spcPts val="800"/>
              </a:spcAft>
              <a:defRPr sz="1800"/>
            </a:pPr>
            <a:r>
              <a:t>• [03｜工具调用篇：从函数调用到工具生态](03-tool-use.html)</a:t>
            </a:r>
          </a:p>
          <a:p>
            <a:pPr>
              <a:spcAft>
                <a:spcPts val="800"/>
              </a:spcAft>
              <a:defRPr sz="1800"/>
            </a:pPr>
            <a:r>
              <a:t>• [04｜多模态篇：视觉、文档、图表与图像理解](04-multimodal.html)</a:t>
            </a:r>
          </a:p>
          <a:p>
            <a:pPr>
              <a:spcAft>
                <a:spcPts val="800"/>
              </a:spcAft>
              <a:defRPr sz="1800"/>
            </a:pPr>
            <a:r>
              <a:t>• [05｜Agent 模式篇：链式、并行、路由与编排](05-agent-patterns.html)</a:t>
            </a:r>
          </a:p>
          <a:p>
            <a:pPr>
              <a:spcAft>
                <a:spcPts val="800"/>
              </a:spcAft>
              <a:defRPr sz="1800"/>
            </a:pPr>
            <a:r>
              <a:t>• [06｜Claude Agent SDK 篇：把模式落成真正的代理](06-claude-agent-sdk.html)</a:t>
            </a:r>
          </a:p>
          <a:p>
            <a:pPr>
              <a:spcAft>
                <a:spcPts val="800"/>
              </a:spcAft>
              <a:defRPr sz="1800"/>
            </a:pPr>
            <a:r>
              <a:t>• [07｜响应工程篇：JSON、缓存、引用、评测与成本](07-responses-and-performance.html)</a:t>
            </a:r>
          </a:p>
          <a:p>
            <a:pPr>
              <a:spcAft>
                <a:spcPts val="800"/>
              </a:spcAft>
              <a:defRPr sz="1800"/>
            </a:pPr>
            <a:r>
              <a:t>• [08｜生态集成篇：LlamaIndex、Pinecone、MongoDB、音频与语音](08-integrations.html)</a:t>
            </a:r>
          </a:p>
          <a:p>
            <a:pPr>
              <a:spcAft>
                <a:spcPts val="800"/>
              </a:spcAft>
              <a:defRPr sz="1800"/>
            </a:pPr>
            <a:r>
              <a:t>• [09｜Skills、微调与垂直化能力](09-skills-finetuning.html)</a:t>
            </a:r>
          </a:p>
          <a:p>
            <a:pPr>
              <a:spcAft>
                <a:spcPts val="800"/>
              </a:spcAft>
              <a:defRPr sz="1800"/>
            </a:pPr>
            <a:r>
              <a:t>• [10｜完整索引：66 个 Claude Cookbooks 逐条导读](10-full-inventory.html)</a:t>
            </a:r>
          </a:p>
          <a:p>
            <a:pPr>
              <a:spcAft>
                <a:spcPts val="800"/>
              </a:spcAft>
              <a:defRPr sz="1800"/>
            </a:pPr>
            <a:r>
              <a:t>• [11｜发布篇：把这套文章放到 GitHub Pages](11-github-pages-deploy.html)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最简单的发布方式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`https://&lt;你的用户名&gt;.github.io/&lt;仓库名&gt;/`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什么时候改用 GitHub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想在发布前做额外构建；</a:t>
            </a:r>
          </a:p>
          <a:p>
            <a:pPr>
              <a:spcAft>
                <a:spcPts val="800"/>
              </a:spcAft>
              <a:defRPr sz="1800"/>
            </a:pPr>
            <a:r>
              <a:t>• 用的不是标准 Jekyll 流程；</a:t>
            </a:r>
          </a:p>
          <a:p>
            <a:pPr>
              <a:spcAft>
                <a:spcPts val="800"/>
              </a:spcAft>
              <a:defRPr sz="1800"/>
            </a:pPr>
            <a:r>
              <a:t>• 想自动化检查、打包和部署；</a:t>
            </a:r>
          </a:p>
          <a:p>
            <a:pPr>
              <a:spcAft>
                <a:spcPts val="800"/>
              </a:spcAft>
              <a:defRPr sz="1800"/>
            </a:pPr>
            <a:r>
              <a:t>• 仓库里有符号链接或更复杂的构建逻辑。 不过，如果你只是想先把这组文章挂起来，`/docs` 分支发布是最省事的方式。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这份站点包里有什么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`_config.yml`：Jekyll / GitHub Pages 的基础配置；</a:t>
            </a:r>
          </a:p>
          <a:p>
            <a:pPr>
              <a:spcAft>
                <a:spcPts val="800"/>
              </a:spcAft>
              <a:defRPr sz="1800"/>
            </a:pPr>
            <a:r>
              <a:t>• `index.md`：站点首页；</a:t>
            </a:r>
          </a:p>
          <a:p>
            <a:pPr>
              <a:spcAft>
                <a:spcPts val="800"/>
              </a:spcAft>
              <a:defRPr sz="1800"/>
            </a:pPr>
            <a:r>
              <a:t>• `01` 到 `11` 的系列文章；</a:t>
            </a:r>
          </a:p>
          <a:p>
            <a:pPr>
              <a:spcAft>
                <a:spcPts val="800"/>
              </a:spcAft>
              <a:defRPr sz="1800"/>
            </a:pPr>
            <a:r>
              <a:t>• 所有页面都已经带好了 front matter，可以直接被 GitHub Pages 处理。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3. 文章风格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更偏教程；</a:t>
            </a:r>
          </a:p>
          <a:p>
            <a:pPr>
              <a:spcAft>
                <a:spcPts val="800"/>
              </a:spcAft>
              <a:defRPr sz="1800"/>
            </a:pPr>
            <a:r>
              <a:t>• 更偏翻译；</a:t>
            </a:r>
          </a:p>
          <a:p>
            <a:pPr>
              <a:spcAft>
                <a:spcPts val="800"/>
              </a:spcAft>
              <a:defRPr sz="1800"/>
            </a:pPr>
            <a:r>
              <a:t>• 更偏源码解读；</a:t>
            </a:r>
          </a:p>
          <a:p>
            <a:pPr>
              <a:spcAft>
                <a:spcPts val="800"/>
              </a:spcAft>
              <a:defRPr sz="1800"/>
            </a:pPr>
            <a:r>
              <a:t>• 更偏企业落地案例。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原始资料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[GitHub Pages 文档首页](https://docs.github.com/pages)</a:t>
            </a:r>
          </a:p>
          <a:p>
            <a:pPr>
              <a:spcAft>
                <a:spcPts val="800"/>
              </a:spcAft>
              <a:defRPr sz="1800"/>
            </a:pPr>
            <a:r>
              <a:t>• [Configuring a publishing source for your GitHub Pages site](https://docs.github.com/en/pages/gettin...</a:t>
            </a:r>
          </a:p>
          <a:p>
            <a:pPr>
              <a:spcAft>
                <a:spcPts val="800"/>
              </a:spcAft>
              <a:defRPr sz="1800"/>
            </a:pPr>
            <a:r>
              <a:t>• [About GitHub Pages and Jekyll](https://docs.github.com/github/working-with-github-pages/about-githu...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