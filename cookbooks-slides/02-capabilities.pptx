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系列导航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[Claude Cookbooks 中文导读](index.html)</a:t>
            </a:r>
          </a:p>
          <a:p>
            <a:pPr>
              <a:spcAft>
                <a:spcPts val="800"/>
              </a:spcAft>
              <a:defRPr sz="1800"/>
            </a:pPr>
            <a:r>
              <a:t>• [01｜仓库总览：Claude Cookbooks 到底在教什么](01-repo-overview.html)</a:t>
            </a:r>
          </a:p>
          <a:p>
            <a:pPr>
              <a:spcAft>
                <a:spcPts val="800"/>
              </a:spcAft>
              <a:defRPr sz="1800"/>
            </a:pPr>
            <a:r>
              <a:t>• [02｜基础能力篇：分类、RAG、摘要与 Text-to-SQL](02-capabilities.html)</a:t>
            </a:r>
          </a:p>
          <a:p>
            <a:pPr>
              <a:spcAft>
                <a:spcPts val="800"/>
              </a:spcAft>
              <a:defRPr sz="1800"/>
            </a:pPr>
            <a:r>
              <a:t>• [03｜工具调用篇：从函数调用到工具生态](03-tool-use.html)</a:t>
            </a:r>
          </a:p>
          <a:p>
            <a:pPr>
              <a:spcAft>
                <a:spcPts val="800"/>
              </a:spcAft>
              <a:defRPr sz="1800"/>
            </a:pPr>
            <a:r>
              <a:t>• [04｜多模态篇：视觉、文档、图表与图像理解](04-multimodal.html)</a:t>
            </a:r>
          </a:p>
          <a:p>
            <a:pPr>
              <a:spcAft>
                <a:spcPts val="800"/>
              </a:spcAft>
              <a:defRPr sz="1800"/>
            </a:pPr>
            <a:r>
              <a:t>• [05｜Agent 模式篇：链式、并行、路由与编排](05-agent-patterns.html)</a:t>
            </a:r>
          </a:p>
          <a:p>
            <a:pPr>
              <a:spcAft>
                <a:spcPts val="800"/>
              </a:spcAft>
              <a:defRPr sz="1800"/>
            </a:pPr>
            <a:r>
              <a:t>• [06｜Claude Agent SDK 篇：把模式落成真正的代理](06-claude-agent-sdk.html)</a:t>
            </a:r>
          </a:p>
          <a:p>
            <a:pPr>
              <a:spcAft>
                <a:spcPts val="800"/>
              </a:spcAft>
              <a:defRPr sz="1800"/>
            </a:pPr>
            <a:r>
              <a:t>• [07｜响应工程篇：JSON、缓存、引用、评测与成本](07-responses-and-performance.html)</a:t>
            </a:r>
          </a:p>
          <a:p>
            <a:pPr>
              <a:spcAft>
                <a:spcPts val="800"/>
              </a:spcAft>
              <a:defRPr sz="1800"/>
            </a:pPr>
            <a:r>
              <a:t>• [08｜生态集成篇：LlamaIndex、Pinecone、MongoDB、音频与语音](08-integrations.html)</a:t>
            </a:r>
          </a:p>
          <a:p>
            <a:pPr>
              <a:spcAft>
                <a:spcPts val="800"/>
              </a:spcAft>
              <a:defRPr sz="1800"/>
            </a:pPr>
            <a:r>
              <a:t>• [09｜Skills、微调与垂直化能力](09-skills-finetuning.html)</a:t>
            </a:r>
          </a:p>
          <a:p>
            <a:pPr>
              <a:spcAft>
                <a:spcPts val="800"/>
              </a:spcAft>
              <a:defRPr sz="1800"/>
            </a:pPr>
            <a:r>
              <a:t>• [10｜完整索引：66 个 Claude Cookbooks 逐条导读](10-full-inventory.html)</a:t>
            </a:r>
          </a:p>
          <a:p>
            <a:pPr>
              <a:spcAft>
                <a:spcPts val="800"/>
              </a:spcAft>
              <a:defRPr sz="1800"/>
            </a:pPr>
            <a:r>
              <a:t>• [11｜发布篇：把这套文章放到 GitHub Pages](11-github-pages-deploy.html)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这组 notebook 的价值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明确定义任务；</a:t>
            </a:r>
          </a:p>
          <a:p>
            <a:pPr>
              <a:spcAft>
                <a:spcPts val="800"/>
              </a:spcAft>
              <a:defRPr sz="1800"/>
            </a:pPr>
            <a:r>
              <a:t>• 设计输入输出；</a:t>
            </a:r>
          </a:p>
          <a:p>
            <a:pPr>
              <a:spcAft>
                <a:spcPts val="800"/>
              </a:spcAft>
              <a:defRPr sz="1800"/>
            </a:pPr>
            <a:r>
              <a:t>• 引入评测；</a:t>
            </a:r>
          </a:p>
          <a:p>
            <a:pPr>
              <a:spcAft>
                <a:spcPts val="800"/>
              </a:spcAft>
              <a:defRPr sz="1800"/>
            </a:pPr>
            <a:r>
              <a:t>• 再做优化。 也就是说，它们是从“能用”走向“可复现、可优化”。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1. Classification：别把分类理解成小任务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**Classification with Claude**：用 Claude 做文本/工单分类，示范如何结合 RAG 与推理过程提升分类质量。（[原文](https://github.com/ant...</a:t>
            </a:r>
          </a:p>
          <a:p>
            <a:pPr>
              <a:spcAft>
                <a:spcPts val="800"/>
              </a:spcAft>
              <a:defRPr sz="1800"/>
            </a:pPr>
            <a:r>
              <a:t>• 工单分流；</a:t>
            </a:r>
          </a:p>
          <a:p>
            <a:pPr>
              <a:spcAft>
                <a:spcPts val="800"/>
              </a:spcAft>
              <a:defRPr sz="1800"/>
            </a:pPr>
            <a:r>
              <a:t>• 邮件标签；</a:t>
            </a:r>
          </a:p>
          <a:p>
            <a:pPr>
              <a:spcAft>
                <a:spcPts val="800"/>
              </a:spcAft>
              <a:defRPr sz="1800"/>
            </a:pPr>
            <a:r>
              <a:t>• 风险分类；</a:t>
            </a:r>
          </a:p>
          <a:p>
            <a:pPr>
              <a:spcAft>
                <a:spcPts val="800"/>
              </a:spcAft>
              <a:defRPr sz="1800"/>
            </a:pPr>
            <a:r>
              <a:t>• 客诉优先级判断；</a:t>
            </a:r>
          </a:p>
          <a:p>
            <a:pPr>
              <a:spcAft>
                <a:spcPts val="800"/>
              </a:spcAft>
              <a:defRPr sz="1800"/>
            </a:pPr>
            <a:r>
              <a:t>• 文档归类。 这一类 notebook 的关键不只是“给标签”，而是教你如何让分类系统变得**更稳、更可解释、更适合复杂业务标签体系**。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这里值得借鉴的做法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不把分类问题只看成 prompt 一句话；</a:t>
            </a:r>
          </a:p>
          <a:p>
            <a:pPr>
              <a:spcAft>
                <a:spcPts val="800"/>
              </a:spcAft>
              <a:defRPr sz="1800"/>
            </a:pPr>
            <a:r>
              <a:t>• 当类别定义复杂时，把外部知识和案例引入分类流程；</a:t>
            </a:r>
          </a:p>
          <a:p>
            <a:pPr>
              <a:spcAft>
                <a:spcPts val="800"/>
              </a:spcAft>
              <a:defRPr sz="1800"/>
            </a:pPr>
            <a:r>
              <a:t>• 对分类结果建立评估，而不是只看几个 demo 样例。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2. Retrieval Augmented Generation：真正的大头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**Enhancing RAG with contextual retrieval**：通过给 chunk 补充上下文再做 embedding，提升检索质量。（[原文](https://github....</a:t>
            </a:r>
          </a:p>
          <a:p>
            <a:pPr>
              <a:spcAft>
                <a:spcPts val="800"/>
              </a:spcAft>
              <a:defRPr sz="1800"/>
            </a:pPr>
            <a:r>
              <a:t>• **Retrieval augmented generation**：从基础 RAG 到评测、summary indexing、reranking 的完整优化路径。（[原文](https://gith...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3. Summarization：摘要不是“压缩一下”这么简单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**Summarization with Claude**：以法律文档为例，系统讲解摘要任务、评测与高级技巧。（[原文](https://github.com/anthropics/claude-co...</a:t>
            </a:r>
          </a:p>
          <a:p>
            <a:pPr>
              <a:spcAft>
                <a:spcPts val="800"/>
              </a:spcAft>
              <a:defRPr sz="1800"/>
            </a:pPr>
            <a:r>
              <a:t>• 不同读者需要不同粒度；</a:t>
            </a:r>
          </a:p>
          <a:p>
            <a:pPr>
              <a:spcAft>
                <a:spcPts val="800"/>
              </a:spcAft>
              <a:defRPr sz="1800"/>
            </a:pPr>
            <a:r>
              <a:t>• 摘要容易漏关键信息；</a:t>
            </a:r>
          </a:p>
          <a:p>
            <a:pPr>
              <a:spcAft>
                <a:spcPts val="800"/>
              </a:spcAft>
              <a:defRPr sz="1800"/>
            </a:pPr>
            <a:r>
              <a:t>• 摘要经常把不确定内容写得过于肯定；</a:t>
            </a:r>
          </a:p>
          <a:p>
            <a:pPr>
              <a:spcAft>
                <a:spcPts val="800"/>
              </a:spcAft>
              <a:defRPr sz="1800"/>
            </a:pPr>
            <a:r>
              <a:t>• 很难量化摘要质量。 这篇 notebook 的价值就在于：它把摘要任务从“写作文”升级成“可评测的信息压缩任务”。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4. Text-to-SQL：最典型的结构化输出应用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**Text to SQL with Claude**：把自然语言问题转换成 SQL，并展示如何用 RAG 与自我改进提升效果。（[原文](https://github.com/anthropics/...</a:t>
            </a:r>
          </a:p>
          <a:p>
            <a:pPr>
              <a:spcAft>
                <a:spcPts val="800"/>
              </a:spcAft>
              <a:defRPr sz="1800"/>
            </a:pPr>
            <a:r>
              <a:t>• 业务用户的自然语言问题；</a:t>
            </a:r>
          </a:p>
          <a:p>
            <a:pPr>
              <a:spcAft>
                <a:spcPts val="800"/>
              </a:spcAft>
              <a:defRPr sz="1800"/>
            </a:pPr>
            <a:r>
              <a:t>• 数据团队管理的结构化数据库；</a:t>
            </a:r>
          </a:p>
          <a:p>
            <a:pPr>
              <a:spcAft>
                <a:spcPts val="800"/>
              </a:spcAft>
              <a:defRPr sz="1800"/>
            </a:pPr>
            <a:r>
              <a:t>• BI / 分析场景里的即时查询需求。 Claude Cookbooks 里的这条线不是只教“把一句话变成 SQL”，而是强调：</a:t>
            </a:r>
          </a:p>
          <a:p>
            <a:pPr>
              <a:spcAft>
                <a:spcPts val="800"/>
              </a:spcAft>
              <a:defRPr sz="1800"/>
            </a:pPr>
            <a:r>
              <a:t>• schema 上下文很关键；</a:t>
            </a:r>
          </a:p>
          <a:p>
            <a:pPr>
              <a:spcAft>
                <a:spcPts val="800"/>
              </a:spcAft>
              <a:defRPr sz="1800"/>
            </a:pPr>
            <a:r>
              <a:t>• RAG 能帮助补足数据库与业务语义；</a:t>
            </a:r>
          </a:p>
          <a:p>
            <a:pPr>
              <a:spcAft>
                <a:spcPts val="800"/>
              </a:spcAft>
              <a:defRPr sz="1800"/>
            </a:pPr>
            <a:r>
              <a:t>• 自我改进 / 反思机制能提升正确率。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从“单次回答”转向“任务系统”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输入清洗；</a:t>
            </a:r>
          </a:p>
          <a:p>
            <a:pPr>
              <a:spcAft>
                <a:spcPts val="800"/>
              </a:spcAft>
              <a:defRPr sz="1800"/>
            </a:pPr>
            <a:r>
              <a:t>• 结构设计；</a:t>
            </a:r>
          </a:p>
          <a:p>
            <a:pPr>
              <a:spcAft>
                <a:spcPts val="800"/>
              </a:spcAft>
              <a:defRPr sz="1800"/>
            </a:pPr>
            <a:r>
              <a:t>• 检索与上下文策略；</a:t>
            </a:r>
          </a:p>
          <a:p>
            <a:pPr>
              <a:spcAft>
                <a:spcPts val="800"/>
              </a:spcAft>
              <a:defRPr sz="1800"/>
            </a:pPr>
            <a:r>
              <a:t>• 输出验证；</a:t>
            </a:r>
          </a:p>
          <a:p>
            <a:pPr>
              <a:spcAft>
                <a:spcPts val="800"/>
              </a:spcAft>
              <a:defRPr sz="1800"/>
            </a:pPr>
            <a:r>
              <a:t>• 错误分析。 Claude Cookbooks 的这些基础能力 notebook，本质上就是在教你如何把任务工程化。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7. 这篇的核心结论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`capabilities/` 是整座仓库最适合新读者入门的一组 notebook；</a:t>
            </a:r>
          </a:p>
          <a:p>
            <a:pPr>
              <a:spcAft>
                <a:spcPts val="800"/>
              </a:spcAft>
              <a:defRPr sz="1800"/>
            </a:pPr>
            <a:r>
              <a:t>• 真正的关键词不是“提示词”，而是 **任务建模 + 评测 + 优化**；</a:t>
            </a:r>
          </a:p>
          <a:p>
            <a:pPr>
              <a:spcAft>
                <a:spcPts val="800"/>
              </a:spcAft>
              <a:defRPr sz="1800"/>
            </a:pPr>
            <a:r>
              <a:t>• 如果你想用 Claude 做企业知识系统，这一组几乎是必读。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对应原始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**Classification with Claude**：用 Claude 做文本/工单分类，示范如何结合 RAG 与推理过程提升分类质量。（[原文](https://github.com/ant...</a:t>
            </a:r>
          </a:p>
          <a:p>
            <a:pPr>
              <a:spcAft>
                <a:spcPts val="800"/>
              </a:spcAft>
              <a:defRPr sz="1800"/>
            </a:pPr>
            <a:r>
              <a:t>• **Enhancing RAG with contextual retrieval**：通过给 chunk 补充上下文再做 embedding，提升检索质量。（[原文](https://github....</a:t>
            </a:r>
          </a:p>
          <a:p>
            <a:pPr>
              <a:spcAft>
                <a:spcPts val="800"/>
              </a:spcAft>
              <a:defRPr sz="1800"/>
            </a:pPr>
            <a:r>
              <a:t>• **Retrieval augmented generation**：从基础 RAG 到评测、summary indexing、reranking 的完整优化路径。（[原文](https://gith...</a:t>
            </a:r>
          </a:p>
          <a:p>
            <a:pPr>
              <a:spcAft>
                <a:spcPts val="800"/>
              </a:spcAft>
              <a:defRPr sz="1800"/>
            </a:pPr>
            <a:r>
              <a:t>• **Summarization with Claude**：以法律文档为例，系统讲解摘要任务、评测与高级技巧。（[原文](https://github.com/anthropics/claude-co...</a:t>
            </a:r>
          </a:p>
          <a:p>
            <a:pPr>
              <a:spcAft>
                <a:spcPts val="800"/>
              </a:spcAft>
              <a:defRPr sz="1800"/>
            </a:pPr>
            <a:r>
              <a:t>• **Text to SQL with Claude**：把自然语言问题转换成 SQL，并展示如何用 RAG 与自我改进提升效果。（[原文](https://github.com/anthropics/...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原始资料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[capabilities 目录](https://github.com/anthropics/claude-cookbooks/tree/main/capabilities)</a:t>
            </a:r>
          </a:p>
          <a:p>
            <a:pPr>
              <a:spcAft>
                <a:spcPts val="800"/>
              </a:spcAft>
              <a:defRPr sz="1800"/>
            </a:pPr>
            <a:r>
              <a:t>• [recipes 注册表](https://raw.githubusercontent.com/anthropics/claude-cookbooks/main/registry.yaml)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