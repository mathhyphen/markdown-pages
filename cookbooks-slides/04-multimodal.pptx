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系列导航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[Claude Cookbooks 中文导读](index.html)</a:t>
            </a:r>
          </a:p>
          <a:p>
            <a:pPr>
              <a:spcAft>
                <a:spcPts val="800"/>
              </a:spcAft>
              <a:defRPr sz="1800"/>
            </a:pPr>
            <a:r>
              <a:t>• [01｜仓库总览：Claude Cookbooks 到底在教什么](01-repo-overview.html)</a:t>
            </a:r>
          </a:p>
          <a:p>
            <a:pPr>
              <a:spcAft>
                <a:spcPts val="800"/>
              </a:spcAft>
              <a:defRPr sz="1800"/>
            </a:pPr>
            <a:r>
              <a:t>• [02｜基础能力篇：分类、RAG、摘要与 Text-to-SQL](02-capabilities.html)</a:t>
            </a:r>
          </a:p>
          <a:p>
            <a:pPr>
              <a:spcAft>
                <a:spcPts val="800"/>
              </a:spcAft>
              <a:defRPr sz="1800"/>
            </a:pPr>
            <a:r>
              <a:t>• [03｜工具调用篇：从函数调用到工具生态](03-tool-use.html)</a:t>
            </a:r>
          </a:p>
          <a:p>
            <a:pPr>
              <a:spcAft>
                <a:spcPts val="800"/>
              </a:spcAft>
              <a:defRPr sz="1800"/>
            </a:pPr>
            <a:r>
              <a:t>• [04｜多模态篇：视觉、文档、图表与图像理解](04-multimodal.html)</a:t>
            </a:r>
          </a:p>
          <a:p>
            <a:pPr>
              <a:spcAft>
                <a:spcPts val="800"/>
              </a:spcAft>
              <a:defRPr sz="1800"/>
            </a:pPr>
            <a:r>
              <a:t>• [05｜Agent 模式篇：链式、并行、路由与编排](05-agent-patterns.html)</a:t>
            </a:r>
          </a:p>
          <a:p>
            <a:pPr>
              <a:spcAft>
                <a:spcPts val="800"/>
              </a:spcAft>
              <a:defRPr sz="1800"/>
            </a:pPr>
            <a:r>
              <a:t>• [06｜Claude Agent SDK 篇：把模式落成真正的代理](06-claude-agent-sdk.html)</a:t>
            </a:r>
          </a:p>
          <a:p>
            <a:pPr>
              <a:spcAft>
                <a:spcPts val="800"/>
              </a:spcAft>
              <a:defRPr sz="1800"/>
            </a:pPr>
            <a:r>
              <a:t>• [07｜响应工程篇：JSON、缓存、引用、评测与成本](07-responses-and-performance.html)</a:t>
            </a:r>
          </a:p>
          <a:p>
            <a:pPr>
              <a:spcAft>
                <a:spcPts val="800"/>
              </a:spcAft>
              <a:defRPr sz="1800"/>
            </a:pPr>
            <a:r>
              <a:t>• [08｜生态集成篇：LlamaIndex、Pinecone、MongoDB、音频与语音](08-integrations.html)</a:t>
            </a:r>
          </a:p>
          <a:p>
            <a:pPr>
              <a:spcAft>
                <a:spcPts val="800"/>
              </a:spcAft>
              <a:defRPr sz="1800"/>
            </a:pPr>
            <a:r>
              <a:t>• [09｜Skills、微调与垂直化能力](09-skills-finetuning.html)</a:t>
            </a:r>
          </a:p>
          <a:p>
            <a:pPr>
              <a:spcAft>
                <a:spcPts val="800"/>
              </a:spcAft>
              <a:defRPr sz="1800"/>
            </a:pPr>
            <a:r>
              <a:t>• [10｜完整索引：66 个 Claude Cookbooks 逐条导读](10-full-inventory.html)</a:t>
            </a:r>
          </a:p>
          <a:p>
            <a:pPr>
              <a:spcAft>
                <a:spcPts val="800"/>
              </a:spcAft>
              <a:defRPr sz="1800"/>
            </a:pPr>
            <a:r>
              <a:t>• [11｜发布篇：把这套文章放到 GitHub Pages](11-github-pages-deploy.html)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1. 入门两件套：先会传图，再学会提问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**Getting started with vision**：从零开始把图片传给 Claude 做视觉理解。（[原文](https://github.com/anthropics/claude-co...</a:t>
            </a:r>
          </a:p>
          <a:p>
            <a:pPr>
              <a:spcAft>
                <a:spcPts val="800"/>
              </a:spcAft>
              <a:defRPr sz="1800"/>
            </a:pPr>
            <a:r>
              <a:t>• **Best practices for using vision with Claude**：总结视觉模型输入、分辨率、任务设计与结果校验的经验。（[原文](https://github.com/a...</a:t>
            </a:r>
          </a:p>
          <a:p>
            <a:pPr>
              <a:spcAft>
                <a:spcPts val="800"/>
              </a:spcAft>
              <a:defRPr sz="1800"/>
            </a:pPr>
            <a:r>
              <a:t>• **Getting started with vision**：教你把图像输入传给 Claude；</a:t>
            </a:r>
          </a:p>
          <a:p>
            <a:pPr>
              <a:spcAft>
                <a:spcPts val="800"/>
              </a:spcAft>
              <a:defRPr sz="1800"/>
            </a:pPr>
            <a:r>
              <a:t>• **Best practices for vision**：告诉你怎样设计输入与任务，避免视觉任务失真。 视觉任务里最常见的问题并不是“模型看不懂”，而是：</a:t>
            </a:r>
          </a:p>
          <a:p>
            <a:pPr>
              <a:spcAft>
                <a:spcPts val="800"/>
              </a:spcAft>
              <a:defRPr sz="1800"/>
            </a:pPr>
            <a:r>
              <a:t>• 图太大或太小；</a:t>
            </a:r>
          </a:p>
          <a:p>
            <a:pPr>
              <a:spcAft>
                <a:spcPts val="800"/>
              </a:spcAft>
              <a:defRPr sz="1800"/>
            </a:pPr>
            <a:r>
              <a:t>• 局部信息太密；</a:t>
            </a:r>
          </a:p>
          <a:p>
            <a:pPr>
              <a:spcAft>
                <a:spcPts val="800"/>
              </a:spcAft>
              <a:defRPr sz="1800"/>
            </a:pPr>
            <a:r>
              <a:t>• 任务目标写得太含糊；</a:t>
            </a:r>
          </a:p>
          <a:p>
            <a:pPr>
              <a:spcAft>
                <a:spcPts val="800"/>
              </a:spcAft>
              <a:defRPr sz="1800"/>
            </a:pPr>
            <a:r>
              <a:t>• 没有要求结构化输出；</a:t>
            </a:r>
          </a:p>
          <a:p>
            <a:pPr>
              <a:spcAft>
                <a:spcPts val="800"/>
              </a:spcAft>
              <a:defRPr sz="1800"/>
            </a:pPr>
            <a:r>
              <a:t>• 缺乏结果核对机制。 因此“best practices” 往往比“hello world”更接近真实价值。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2. 文档理解：多模态最容易落地的地方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**Uploading PDFs to Claude via the API**：通过 API 解析 PDF、提取文本，并交给 Claude 总结。（[原文](https://github.com/a...</a:t>
            </a:r>
          </a:p>
          <a:p>
            <a:pPr>
              <a:spcAft>
                <a:spcPts val="800"/>
              </a:spcAft>
              <a:defRPr sz="1800"/>
            </a:pPr>
            <a:r>
              <a:t>• **How to transcribe documents with Claude**：把图片或 PDF 中的非结构化文本提取成结构化内容。（[原文](https://github.com/anthr...</a:t>
            </a:r>
          </a:p>
          <a:p>
            <a:pPr>
              <a:spcAft>
                <a:spcPts val="800"/>
              </a:spcAft>
              <a:defRPr sz="1800"/>
            </a:pPr>
            <a:r>
              <a:t>• 扫描件 OCR / 转写；</a:t>
            </a:r>
          </a:p>
          <a:p>
            <a:pPr>
              <a:spcAft>
                <a:spcPts val="800"/>
              </a:spcAft>
              <a:defRPr sz="1800"/>
            </a:pPr>
            <a:r>
              <a:t>• 合同、表单、发票、票据解析；</a:t>
            </a:r>
          </a:p>
          <a:p>
            <a:pPr>
              <a:spcAft>
                <a:spcPts val="800"/>
              </a:spcAft>
              <a:defRPr sz="1800"/>
            </a:pPr>
            <a:r>
              <a:t>• PDF 摘要；</a:t>
            </a:r>
          </a:p>
          <a:p>
            <a:pPr>
              <a:spcAft>
                <a:spcPts val="800"/>
              </a:spcAft>
              <a:defRPr sz="1800"/>
            </a:pPr>
            <a:r>
              <a:t>• 截图内容抽取；</a:t>
            </a:r>
          </a:p>
          <a:p>
            <a:pPr>
              <a:spcAft>
                <a:spcPts val="800"/>
              </a:spcAft>
              <a:defRPr sz="1800"/>
            </a:pPr>
            <a:r>
              <a:t>• 手写或排版复杂内容的结构化整理。 `how_to_transcribe_text` 这类 notebook 的核心价值是让你看到：**图像理解并不是终点，结构化提取才是业务价值所在**。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3. 图表与幻灯片：从“看见”到“读懂”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**Working with charts, graphs, and slide decks**：分析图表、幻灯片和可视化材料。（[原文](https://github.com/anthropics/...</a:t>
            </a:r>
          </a:p>
          <a:p>
            <a:pPr>
              <a:spcAft>
                <a:spcPts val="800"/>
              </a:spcAft>
              <a:defRPr sz="1800"/>
            </a:pPr>
            <a:r>
              <a:t>• **Giving Claude a crop tool for better image analysis**：给 Claude 一个裁剪工具，让它放大局部区域进行更细的图像分析。（[原文](http...</a:t>
            </a:r>
          </a:p>
          <a:p>
            <a:pPr>
              <a:spcAft>
                <a:spcPts val="800"/>
              </a:spcAft>
              <a:defRPr sz="1800"/>
            </a:pPr>
            <a:r>
              <a:t>• 图形元素识别；</a:t>
            </a:r>
          </a:p>
          <a:p>
            <a:pPr>
              <a:spcAft>
                <a:spcPts val="800"/>
              </a:spcAft>
              <a:defRPr sz="1800"/>
            </a:pPr>
            <a:r>
              <a:t>• 坐标含义理解；</a:t>
            </a:r>
          </a:p>
          <a:p>
            <a:pPr>
              <a:spcAft>
                <a:spcPts val="800"/>
              </a:spcAft>
              <a:defRPr sz="1800"/>
            </a:pPr>
            <a:r>
              <a:t>• 局部标签定位；</a:t>
            </a:r>
          </a:p>
          <a:p>
            <a:pPr>
              <a:spcAft>
                <a:spcPts val="800"/>
              </a:spcAft>
              <a:defRPr sz="1800"/>
            </a:pPr>
            <a:r>
              <a:t>• 趋势解释；</a:t>
            </a:r>
          </a:p>
          <a:p>
            <a:pPr>
              <a:spcAft>
                <a:spcPts val="800"/>
              </a:spcAft>
              <a:defRPr sz="1800"/>
            </a:pPr>
            <a:r>
              <a:t>• 文本与图形之间的联动推断。 `crop_tool` 特别有代表性，因为它体现了一个关键思想： **当图太复杂时，不是硬让模型一次全读，而是给它一个“看局部”的工具。** 这和 RAG、tool use...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4. 子代理与多模态的结合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**Using Haiku as a sub-agent**：用 Haiku 子代理做提取，再用更强模型做综合。（[原文](https://github.com/anthropics/claude-c...</a:t>
            </a:r>
          </a:p>
          <a:p>
            <a:pPr>
              <a:spcAft>
                <a:spcPts val="800"/>
              </a:spcAft>
              <a:defRPr sz="1800"/>
            </a:pPr>
            <a:r>
              <a:t>• **Using vision with tools**：把视觉输入与工具调用结合，做结构化提取。（[原文](https://github.com/anthropics/claude-cookbooks...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思路二：多模态任务需要拆分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识别局部；</a:t>
            </a:r>
          </a:p>
          <a:p>
            <a:pPr>
              <a:spcAft>
                <a:spcPts val="800"/>
              </a:spcAft>
              <a:defRPr sz="1800"/>
            </a:pPr>
            <a:r>
              <a:t>• 抽取字段；</a:t>
            </a:r>
          </a:p>
          <a:p>
            <a:pPr>
              <a:spcAft>
                <a:spcPts val="800"/>
              </a:spcAft>
              <a:defRPr sz="1800"/>
            </a:pPr>
            <a:r>
              <a:t>• 再综合解释。 这比“请总结这张图”更可靠。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思路三：多模态最终还是要回到结构化输出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表格；</a:t>
            </a:r>
          </a:p>
          <a:p>
            <a:pPr>
              <a:spcAft>
                <a:spcPts val="800"/>
              </a:spcAft>
              <a:defRPr sz="1800"/>
            </a:pPr>
            <a:r>
              <a:t>• JSON；</a:t>
            </a:r>
          </a:p>
          <a:p>
            <a:pPr>
              <a:spcAft>
                <a:spcPts val="800"/>
              </a:spcAft>
              <a:defRPr sz="1800"/>
            </a:pPr>
            <a:r>
              <a:t>• 字段集合；</a:t>
            </a:r>
          </a:p>
          <a:p>
            <a:pPr>
              <a:spcAft>
                <a:spcPts val="800"/>
              </a:spcAft>
              <a:defRPr sz="1800"/>
            </a:pPr>
            <a:r>
              <a:t>• 审核结果；</a:t>
            </a:r>
          </a:p>
          <a:p>
            <a:pPr>
              <a:spcAft>
                <a:spcPts val="800"/>
              </a:spcAft>
              <a:defRPr sz="1800"/>
            </a:pPr>
            <a:r>
              <a:t>• 风险标签。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6. 建议你怎么改写成中文内容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**Claude 做视觉理解，不只是 OCR**</a:t>
            </a:r>
          </a:p>
          <a:p>
            <a:pPr>
              <a:spcAft>
                <a:spcPts val="800"/>
              </a:spcAft>
              <a:defRPr sz="1800"/>
            </a:pPr>
            <a:r>
              <a:t>• **处理 PDF / 表单时，为什么结构化抽取比摘要更重要**</a:t>
            </a:r>
          </a:p>
          <a:p>
            <a:pPr>
              <a:spcAft>
                <a:spcPts val="800"/>
              </a:spcAft>
              <a:defRPr sz="1800"/>
            </a:pPr>
            <a:r>
              <a:t>• **图表理解为什么需要 crop / zoom 类工具**</a:t>
            </a:r>
          </a:p>
          <a:p>
            <a:pPr>
              <a:spcAft>
                <a:spcPts val="800"/>
              </a:spcAft>
              <a:defRPr sz="1800"/>
            </a:pPr>
            <a:r>
              <a:t>• **多模态 Agent：看图、抽字段、再执行动作**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7. 这篇的核心结论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`multimodal/` 不只是“演示能看图”，而是在教你如何处理真实世界的复杂输入；</a:t>
            </a:r>
          </a:p>
          <a:p>
            <a:pPr>
              <a:spcAft>
                <a:spcPts val="800"/>
              </a:spcAft>
              <a:defRPr sz="1800"/>
            </a:pPr>
            <a:r>
              <a:t>• 多模态任务往往要和工具调用、子代理、结构化输出一起设计；</a:t>
            </a:r>
          </a:p>
          <a:p>
            <a:pPr>
              <a:spcAft>
                <a:spcPts val="800"/>
              </a:spcAft>
              <a:defRPr sz="1800"/>
            </a:pPr>
            <a:r>
              <a:t>• 文档、PDF、图表、表单，是最值得优先落地的多模态场景。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对应原始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**Getting started with vision**：从零开始把图片传给 Claude 做视觉理解。（[原文](https://github.com/anthropics/claude-co...</a:t>
            </a:r>
          </a:p>
          <a:p>
            <a:pPr>
              <a:spcAft>
                <a:spcPts val="800"/>
              </a:spcAft>
              <a:defRPr sz="1800"/>
            </a:pPr>
            <a:r>
              <a:t>• **Best practices for using vision with Claude**：总结视觉模型输入、分辨率、任务设计与结果校验的经验。（[原文](https://github.com/a...</a:t>
            </a:r>
          </a:p>
          <a:p>
            <a:pPr>
              <a:spcAft>
                <a:spcPts val="800"/>
              </a:spcAft>
              <a:defRPr sz="1800"/>
            </a:pPr>
            <a:r>
              <a:t>• **How to transcribe documents with Claude**：把图片或 PDF 中的非结构化文本提取成结构化内容。（[原文](https://github.com/anthr...</a:t>
            </a:r>
          </a:p>
          <a:p>
            <a:pPr>
              <a:spcAft>
                <a:spcPts val="800"/>
              </a:spcAft>
              <a:defRPr sz="1800"/>
            </a:pPr>
            <a:r>
              <a:t>• **Working with charts, graphs, and slide decks**：分析图表、幻灯片和可视化材料。（[原文](https://github.com/anthropics/...</a:t>
            </a:r>
          </a:p>
          <a:p>
            <a:pPr>
              <a:spcAft>
                <a:spcPts val="800"/>
              </a:spcAft>
              <a:defRPr sz="1800"/>
            </a:pPr>
            <a:r>
              <a:t>• **Using Haiku as a sub-agent**：用 Haiku 子代理做提取，再用更强模型做综合。（[原文](https://github.com/anthropics/claude-c...</a:t>
            </a:r>
          </a:p>
          <a:p>
            <a:pPr>
              <a:spcAft>
                <a:spcPts val="800"/>
              </a:spcAft>
              <a:defRPr sz="1800"/>
            </a:pPr>
            <a:r>
              <a:t>• **Giving Claude a crop tool for better image analysis**：给 Claude 一个裁剪工具，让它放大局部区域进行更细的图像分析。（[原文](http...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相关补充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[tool_use/vision_with_tools.ipynb](https://github.com/anthropics/claude-cookbooks/blob/main/tool_use...</a:t>
            </a:r>
          </a:p>
          <a:p>
            <a:pPr>
              <a:spcAft>
                <a:spcPts val="800"/>
              </a:spcAft>
              <a:defRPr sz="1800"/>
            </a:pPr>
            <a:r>
              <a:t>• [misc/pdf_upload_summarization.ipynb](https://github.com/anthropics/claude-cookbooks/blob/main/misc/...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