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1. 这个仓库的定位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先按场景找到对应 recipe；</a:t>
            </a:r>
          </a:p>
          <a:p>
            <a:pPr>
              <a:spcAft>
                <a:spcPts val="800"/>
              </a:spcAft>
              <a:defRPr sz="1800"/>
            </a:pPr>
            <a:r>
              <a:t>• 跑通一个最小例子；</a:t>
            </a:r>
          </a:p>
          <a:p>
            <a:pPr>
              <a:spcAft>
                <a:spcPts val="800"/>
              </a:spcAft>
              <a:defRPr sz="1800"/>
            </a:pPr>
            <a:r>
              <a:t>• 再把其中的模式抽出来，移植到自己的工程里。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第一层：面向读者的 recipe 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`capabilities/`：基础能力，如分类、摘要、RAG、Text-to-SQL；</a:t>
            </a:r>
          </a:p>
          <a:p>
            <a:pPr>
              <a:spcAft>
                <a:spcPts val="800"/>
              </a:spcAft>
              <a:defRPr sz="1800"/>
            </a:pPr>
            <a:r>
              <a:t>• `tool_use/`：工具调用；</a:t>
            </a:r>
          </a:p>
          <a:p>
            <a:pPr>
              <a:spcAft>
                <a:spcPts val="800"/>
              </a:spcAft>
              <a:defRPr sz="1800"/>
            </a:pPr>
            <a:r>
              <a:t>• `multimodal/`：视觉、图表、文档；</a:t>
            </a:r>
          </a:p>
          <a:p>
            <a:pPr>
              <a:spcAft>
                <a:spcPts val="800"/>
              </a:spcAft>
              <a:defRPr sz="1800"/>
            </a:pPr>
            <a:r>
              <a:t>• `patterns/agents/`：通用 Agent 模式；</a:t>
            </a:r>
          </a:p>
          <a:p>
            <a:pPr>
              <a:spcAft>
                <a:spcPts val="800"/>
              </a:spcAft>
              <a:defRPr sz="1800"/>
            </a:pPr>
            <a:r>
              <a:t>• `claude_agent_sdk/`：用 SDK 做真正代理；</a:t>
            </a:r>
          </a:p>
          <a:p>
            <a:pPr>
              <a:spcAft>
                <a:spcPts val="800"/>
              </a:spcAft>
              <a:defRPr sz="1800"/>
            </a:pPr>
            <a:r>
              <a:t>• `third_party/`：接第三方生态；</a:t>
            </a:r>
          </a:p>
          <a:p>
            <a:pPr>
              <a:spcAft>
                <a:spcPts val="800"/>
              </a:spcAft>
              <a:defRPr sz="1800"/>
            </a:pPr>
            <a:r>
              <a:t>• `misc/`：缓存、评测、JSON、引用、批处理等杂项但非常实用。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第二层：工程支撑层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`anthropic_cookbook/`</a:t>
            </a:r>
          </a:p>
          <a:p>
            <a:pPr>
              <a:spcAft>
                <a:spcPts val="800"/>
              </a:spcAft>
              <a:defRPr sz="1800"/>
            </a:pPr>
            <a:r>
              <a:t>• `scripts/`</a:t>
            </a:r>
          </a:p>
          <a:p>
            <a:pPr>
              <a:spcAft>
                <a:spcPts val="800"/>
              </a:spcAft>
              <a:defRPr sz="1800"/>
            </a:pPr>
            <a:r>
              <a:t>• `tests/`</a:t>
            </a:r>
          </a:p>
          <a:p>
            <a:pPr>
              <a:spcAft>
                <a:spcPts val="800"/>
              </a:spcAft>
              <a:defRPr sz="1800"/>
            </a:pPr>
            <a:r>
              <a:t>• `registry.yaml`</a:t>
            </a:r>
          </a:p>
          <a:p>
            <a:pPr>
              <a:spcAft>
                <a:spcPts val="800"/>
              </a:spcAft>
              <a:defRPr sz="1800"/>
            </a:pPr>
            <a:r>
              <a:t>• `pyproject.toml`</a:t>
            </a:r>
          </a:p>
          <a:p>
            <a:pPr>
              <a:spcAft>
                <a:spcPts val="800"/>
              </a:spcAft>
              <a:defRPr sz="1800"/>
            </a:pPr>
            <a:r>
              <a:t>• `uv.lock` 这说明它并不是“扔一堆 notebook 就完事”的演示仓库，而是按持续维护的方式组织起来的工程仓库。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第三层：持续扩展层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**更工程化**：例如 Prompt Caching、Batch API、Usage &amp; Cost Admin API、Tool Evaluation；</a:t>
            </a:r>
          </a:p>
          <a:p>
            <a:pPr>
              <a:spcAft>
                <a:spcPts val="800"/>
              </a:spcAft>
              <a:defRPr sz="1800"/>
            </a:pPr>
            <a:r>
              <a:t>• **更 Agent 化**：例如 Basic Workflows、Orchestrator、Claude Agent SDK、Memory / Context 管理、Automatic Context...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误区二：把 `misc/` 当边角料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Prompt caching</a:t>
            </a:r>
          </a:p>
          <a:p>
            <a:pPr>
              <a:spcAft>
                <a:spcPts val="800"/>
              </a:spcAft>
              <a:defRPr sz="1800"/>
            </a:pPr>
            <a:r>
              <a:t>• JSON mode</a:t>
            </a:r>
          </a:p>
          <a:p>
            <a:pPr>
              <a:spcAft>
                <a:spcPts val="800"/>
              </a:spcAft>
              <a:defRPr sz="1800"/>
            </a:pPr>
            <a:r>
              <a:t>• Citations</a:t>
            </a:r>
          </a:p>
          <a:p>
            <a:pPr>
              <a:spcAft>
                <a:spcPts val="800"/>
              </a:spcAft>
              <a:defRPr sz="1800"/>
            </a:pPr>
            <a:r>
              <a:t>• Batches API</a:t>
            </a:r>
          </a:p>
          <a:p>
            <a:pPr>
              <a:spcAft>
                <a:spcPts val="800"/>
              </a:spcAft>
              <a:defRPr sz="1800"/>
            </a:pPr>
            <a:r>
              <a:t>• Sampling past max tokens</a:t>
            </a:r>
          </a:p>
          <a:p>
            <a:pPr>
              <a:spcAft>
                <a:spcPts val="800"/>
              </a:spcAft>
              <a:defRPr sz="1800"/>
            </a:pPr>
            <a:r>
              <a:t>• Session memory compaction 这些内容不一定炫，但很接近真实应用上线时会遇到的问题。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能力基础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**Classification with Claude**：用 Claude 做文本/工单分类，示范如何结合 RAG 与推理过程提升分类质量。（[原文](https://github.com/ant...</a:t>
            </a:r>
          </a:p>
          <a:p>
            <a:pPr>
              <a:spcAft>
                <a:spcPts val="800"/>
              </a:spcAft>
              <a:defRPr sz="1800"/>
            </a:pPr>
            <a:r>
              <a:t>• **Enhancing RAG with contextual retrieval**：通过给 chunk 补充上下文再做 embedding，提升检索质量。（[原文](https://github....</a:t>
            </a:r>
          </a:p>
          <a:p>
            <a:pPr>
              <a:spcAft>
                <a:spcPts val="800"/>
              </a:spcAft>
              <a:defRPr sz="1800"/>
            </a:pPr>
            <a:r>
              <a:t>• **Retrieval augmented generation**：从基础 RAG 到评测、summary indexing、reranking 的完整优化路径。（[原文](https://gith...</a:t>
            </a:r>
          </a:p>
          <a:p>
            <a:pPr>
              <a:spcAft>
                <a:spcPts val="800"/>
              </a:spcAft>
              <a:defRPr sz="1800"/>
            </a:pPr>
            <a:r>
              <a:t>• **Summarization with Claude**：以法律文档为例，系统讲解摘要任务、评测与高级技巧。（[原文](https://github.com/anthropics/claude-co...</a:t>
            </a:r>
          </a:p>
          <a:p>
            <a:pPr>
              <a:spcAft>
                <a:spcPts val="800"/>
              </a:spcAft>
              <a:defRPr sz="1800"/>
            </a:pPr>
            <a:r>
              <a:t>• **Text to SQL with Claude**：把自然语言问题转换成 SQL，并展示如何用 RAG 与自我改进提升效果。（[原文](https://github.com/anthropics/...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工具与代理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**Creating a customer service agent with client-side tools**：用客户查询、订单查询、取消订单等工具搭建客服代理。（[原文](https://...</a:t>
            </a:r>
          </a:p>
          <a:p>
            <a:pPr>
              <a:spcAft>
                <a:spcPts val="800"/>
              </a:spcAft>
              <a:defRPr sz="1800"/>
            </a:pPr>
            <a:r>
              <a:t>• **Basic workflows**：用 prompt chaining、parallelization、routing 三种模式搭建多 LLM 工作流。（[原文](https://github.c...</a:t>
            </a:r>
          </a:p>
          <a:p>
            <a:pPr>
              <a:spcAft>
                <a:spcPts val="800"/>
              </a:spcAft>
              <a:defRPr sz="1800"/>
            </a:pPr>
            <a:r>
              <a:t>• **The one-liner research agent**：使用 Claude Agent SDK 和 WebSearch 构建最小化研究代理。（[原文](https://github.com/...</a:t>
            </a:r>
          </a:p>
          <a:p>
            <a:pPr>
              <a:spcAft>
                <a:spcPts val="800"/>
              </a:spcAft>
              <a:defRPr sz="1800"/>
            </a:pPr>
            <a:r>
              <a:t>• **Memory &amp; context management with Claude Sonnet 4.6**：面向代理应用的持久记忆、上下文编辑与状态管理。（[原文](https://github.c...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**Prompt caching through the Claude API**：复用上下文缓存以降低成本、提升响应速度。（[原文](https://github.com/anthropics/cl...</a:t>
            </a:r>
          </a:p>
          <a:p>
            <a:pPr>
              <a:spcAft>
                <a:spcPts val="800"/>
              </a:spcAft>
              <a:defRPr sz="1800"/>
            </a:pPr>
            <a:r>
              <a:t>• **Building evals**：搭建评测系统来衡量和改进 Claude 的输出质量。（[原文](https://github.com/anthropics/claude-cookbooks/bl...</a:t>
            </a:r>
          </a:p>
          <a:p>
            <a:pPr>
              <a:spcAft>
                <a:spcPts val="800"/>
              </a:spcAft>
              <a:defRPr sz="1800"/>
            </a:pPr>
            <a:r>
              <a:t>• **Usage &amp; cost Admin API cookbook**：通过 Admin API 拉取 Claude API 的用量与成本数据。（[原文](https://github.com/ant...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7. 这一篇的核心结论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这不是一本教程，而是一个不断更新的 **Claude 应用模式库**；</a:t>
            </a:r>
          </a:p>
          <a:p>
            <a:pPr>
              <a:spcAft>
                <a:spcPts val="800"/>
              </a:spcAft>
              <a:defRPr sz="1800"/>
            </a:pPr>
            <a:r>
              <a:t>• 真正的阅读单位不是“章节”，而是“场景”；</a:t>
            </a:r>
          </a:p>
          <a:p>
            <a:pPr>
              <a:spcAft>
                <a:spcPts val="800"/>
              </a:spcAft>
              <a:defRPr sz="1800"/>
            </a:pPr>
            <a:r>
              <a:t>• 仓库越往后越能看出 Anthropic 的重点正在从“单次调用”走向“可落地的 Agent 系统”。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原始资料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[仓库首页](https://github.com/anthropics/claude-cookbooks)</a:t>
            </a:r>
          </a:p>
          <a:p>
            <a:pPr>
              <a:spcAft>
                <a:spcPts val="800"/>
              </a:spcAft>
              <a:defRPr sz="1800"/>
            </a:pPr>
            <a:r>
              <a:t>• [README](https://github.com/anthropics/claude-cookbooks/blob/main/README.md)</a:t>
            </a:r>
          </a:p>
          <a:p>
            <a:pPr>
              <a:spcAft>
                <a:spcPts val="800"/>
              </a:spcAft>
              <a:defRPr sz="1800"/>
            </a:pPr>
            <a:r>
              <a:t>• [recipes 注册表](https://raw.githubusercontent.com/anthropics/claude-cookbooks/main/registry.yaml)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